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22" r:id="rId3"/>
    <p:sldId id="260" r:id="rId4"/>
    <p:sldId id="258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23" r:id="rId13"/>
    <p:sldId id="311" r:id="rId14"/>
    <p:sldId id="326" r:id="rId15"/>
    <p:sldId id="327" r:id="rId16"/>
    <p:sldId id="328" r:id="rId17"/>
    <p:sldId id="329" r:id="rId18"/>
    <p:sldId id="324" r:id="rId19"/>
    <p:sldId id="312" r:id="rId20"/>
    <p:sldId id="330" r:id="rId21"/>
    <p:sldId id="331" r:id="rId22"/>
    <p:sldId id="332" r:id="rId23"/>
    <p:sldId id="333" r:id="rId24"/>
    <p:sldId id="314" r:id="rId25"/>
    <p:sldId id="325" r:id="rId26"/>
    <p:sldId id="320" r:id="rId27"/>
    <p:sldId id="316" r:id="rId28"/>
    <p:sldId id="319" r:id="rId29"/>
    <p:sldId id="321" r:id="rId30"/>
    <p:sldId id="318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320F"/>
    <a:srgbClr val="EC66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99" autoAdjust="0"/>
    <p:restoredTop sz="94660" autoAdjust="0"/>
  </p:normalViewPr>
  <p:slideViewPr>
    <p:cSldViewPr>
      <p:cViewPr varScale="1">
        <p:scale>
          <a:sx n="72" d="100"/>
          <a:sy n="72" d="100"/>
        </p:scale>
        <p:origin x="893" y="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127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988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173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073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5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118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414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37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714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40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2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23183-C174-4D4D-8C68-0EE160911B1D}" type="datetimeFigureOut">
              <a:rPr lang="en-GB" smtClean="0"/>
              <a:pPr/>
              <a:t>29/09/2018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1237F-874E-4AA0-9A69-B5D7000BE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87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rgbClr val="92D050"/>
          </a:solidFill>
        </p:spPr>
        <p:txBody>
          <a:bodyPr>
            <a:noAutofit/>
          </a:bodyPr>
          <a:lstStyle/>
          <a:p>
            <a:r>
              <a:rPr lang="en-GB" sz="4800" dirty="0" smtClean="0">
                <a:solidFill>
                  <a:schemeClr val="bg1"/>
                </a:solidFill>
              </a:rPr>
              <a:t>Further</a:t>
            </a:r>
            <a:br>
              <a:rPr lang="en-GB" sz="4800" dirty="0" smtClean="0">
                <a:solidFill>
                  <a:schemeClr val="bg1"/>
                </a:solidFill>
              </a:rPr>
            </a:br>
            <a:r>
              <a:rPr lang="en-GB" sz="4800" dirty="0" smtClean="0">
                <a:solidFill>
                  <a:schemeClr val="bg1"/>
                </a:solidFill>
              </a:rPr>
              <a:t>Approximation algorithms</a:t>
            </a: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smtClean="0">
                <a:solidFill>
                  <a:schemeClr val="tx1"/>
                </a:solidFill>
              </a:rPr>
              <a:t>MA428 </a:t>
            </a:r>
            <a:r>
              <a:rPr lang="en-GB" b="1" smtClean="0">
                <a:solidFill>
                  <a:schemeClr val="tx1"/>
                </a:solidFill>
              </a:rPr>
              <a:t>– CO7</a:t>
            </a:r>
            <a:endParaRPr lang="en-GB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40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490066"/>
          </a:xfrm>
          <a:solidFill>
            <a:srgbClr val="92D050"/>
          </a:solidFill>
        </p:spPr>
        <p:txBody>
          <a:bodyPr>
            <a:noAutofit/>
          </a:bodyPr>
          <a:lstStyle/>
          <a:p>
            <a:r>
              <a:rPr lang="en-GB" sz="2800" dirty="0" smtClean="0">
                <a:solidFill>
                  <a:schemeClr val="bg1"/>
                </a:solidFill>
              </a:rPr>
              <a:t>Approximation Algorithms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Greedy algorithms: </a:t>
            </a:r>
          </a:p>
          <a:p>
            <a:pPr lvl="1"/>
            <a:r>
              <a:rPr lang="en-US" dirty="0" smtClean="0"/>
              <a:t>k-center problem</a:t>
            </a:r>
          </a:p>
          <a:p>
            <a:pPr lvl="1"/>
            <a:r>
              <a:rPr lang="en-US" dirty="0" smtClean="0"/>
              <a:t>metric TSP</a:t>
            </a:r>
          </a:p>
          <a:p>
            <a:pPr>
              <a:buNone/>
            </a:pPr>
            <a:r>
              <a:rPr lang="en-US" dirty="0" smtClean="0"/>
              <a:t>Randomized Algorithms: </a:t>
            </a:r>
          </a:p>
          <a:p>
            <a:pPr lvl="1"/>
            <a:r>
              <a:rPr lang="en-US" dirty="0" smtClean="0"/>
              <a:t>Maximum </a:t>
            </a:r>
            <a:r>
              <a:rPr lang="en-US" dirty="0" err="1" smtClean="0"/>
              <a:t>Satisfiability</a:t>
            </a:r>
            <a:r>
              <a:rPr lang="en-US" dirty="0" smtClean="0"/>
              <a:t> Problem (MAX SAT)</a:t>
            </a:r>
          </a:p>
          <a:p>
            <a:pPr lvl="1"/>
            <a:r>
              <a:rPr lang="en-US" dirty="0" smtClean="0"/>
              <a:t>Maximum Cut Problem (MAX CUT)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99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5240" cy="490066"/>
          </a:xfrm>
          <a:solidFill>
            <a:srgbClr val="92D050"/>
          </a:solidFill>
        </p:spPr>
        <p:txBody>
          <a:bodyPr>
            <a:noAutofit/>
          </a:bodyPr>
          <a:lstStyle/>
          <a:p>
            <a:r>
              <a:rPr lang="en-GB" sz="2800" dirty="0" smtClean="0">
                <a:solidFill>
                  <a:schemeClr val="bg1"/>
                </a:solidFill>
              </a:rPr>
              <a:t>Approximation Algorithms - Greedy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1101089"/>
            <a:ext cx="2025876" cy="4001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k-</a:t>
            </a:r>
            <a:r>
              <a:rPr lang="en-GB" sz="2000" b="1" dirty="0" err="1" smtClean="0">
                <a:solidFill>
                  <a:schemeClr val="bg1"/>
                </a:solidFill>
              </a:rPr>
              <a:t>center</a:t>
            </a:r>
            <a:r>
              <a:rPr lang="en-GB" sz="2000" b="1" dirty="0" smtClean="0">
                <a:solidFill>
                  <a:schemeClr val="bg1"/>
                </a:solidFill>
              </a:rPr>
              <a:t>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844824"/>
            <a:ext cx="7295828" cy="2343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365105"/>
            <a:ext cx="8280920" cy="133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0799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41002" y="1048005"/>
            <a:ext cx="6669070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A greedy 2-approximation algorithm for the k-</a:t>
            </a:r>
            <a:r>
              <a:rPr lang="en-GB" sz="2000" b="1" dirty="0" err="1" smtClean="0">
                <a:solidFill>
                  <a:schemeClr val="bg1"/>
                </a:solidFill>
              </a:rPr>
              <a:t>center</a:t>
            </a:r>
            <a:r>
              <a:rPr lang="en-GB" sz="2000" b="1" dirty="0" smtClean="0">
                <a:solidFill>
                  <a:schemeClr val="bg1"/>
                </a:solidFill>
              </a:rPr>
              <a:t>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44824"/>
            <a:ext cx="5319703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1" y="4365104"/>
            <a:ext cx="8712968" cy="384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41002" y="1048005"/>
            <a:ext cx="6669070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A greedy 2-approximation algorithm for the k-</a:t>
            </a:r>
            <a:r>
              <a:rPr lang="en-GB" sz="2000" b="1" dirty="0" err="1" smtClean="0">
                <a:solidFill>
                  <a:schemeClr val="bg1"/>
                </a:solidFill>
              </a:rPr>
              <a:t>center</a:t>
            </a:r>
            <a:r>
              <a:rPr lang="en-GB" sz="2000" b="1" dirty="0" smtClean="0">
                <a:solidFill>
                  <a:schemeClr val="bg1"/>
                </a:solidFill>
              </a:rPr>
              <a:t>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772816"/>
            <a:ext cx="8788723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41002" y="1048005"/>
            <a:ext cx="5620385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approximation algorithms for the k-</a:t>
            </a:r>
            <a:r>
              <a:rPr lang="en-GB" sz="2000" b="1" dirty="0" err="1" smtClean="0">
                <a:solidFill>
                  <a:schemeClr val="bg1"/>
                </a:solidFill>
              </a:rPr>
              <a:t>center</a:t>
            </a:r>
            <a:r>
              <a:rPr lang="en-GB" sz="2000" b="1" dirty="0" smtClean="0">
                <a:solidFill>
                  <a:schemeClr val="bg1"/>
                </a:solidFill>
              </a:rPr>
              <a:t>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7" y="1700808"/>
            <a:ext cx="8548315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19" y="2780928"/>
            <a:ext cx="8671297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41002" y="908720"/>
            <a:ext cx="3236079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Travelling Salesman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84784"/>
            <a:ext cx="7793111" cy="1846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23528" y="3573016"/>
            <a:ext cx="7830733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Consider the Travelling Salesman Problem on a complete graph G = (V,E)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3528" y="4149080"/>
            <a:ext cx="3065968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Hamiltonian Cycle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9" y="4725144"/>
            <a:ext cx="8424936" cy="418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3528" y="5405154"/>
            <a:ext cx="5150128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The Hamiltonian cycle problem is NP-complete</a:t>
            </a:r>
            <a:endParaRPr lang="en-GB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41002" y="908720"/>
            <a:ext cx="8137420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An  </a:t>
            </a:r>
            <a:r>
              <a:rPr lang="en-GB" sz="2000" b="1" dirty="0" smtClean="0">
                <a:solidFill>
                  <a:schemeClr val="bg1"/>
                </a:solidFill>
                <a:latin typeface="Symbol" pitchFamily="18" charset="2"/>
              </a:rPr>
              <a:t>a</a:t>
            </a:r>
            <a:r>
              <a:rPr lang="en-GB" sz="2000" b="1" dirty="0" smtClean="0">
                <a:solidFill>
                  <a:schemeClr val="bg1"/>
                </a:solidFill>
              </a:rPr>
              <a:t>-approximation to the TSP could solve the Hamiltonian Cycle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5538906"/>
            <a:ext cx="8640960" cy="842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19" y="1484784"/>
            <a:ext cx="8064897" cy="8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3608" y="2420888"/>
            <a:ext cx="7200800" cy="824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528" y="3551656"/>
            <a:ext cx="8728150" cy="1749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41002" y="908720"/>
            <a:ext cx="3995774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Metric Travelling Salesman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6416080" cy="394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41002" y="2204864"/>
            <a:ext cx="5093895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Nearest Addition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919685"/>
            <a:ext cx="8115474" cy="869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272433"/>
            <a:ext cx="8568951" cy="1892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6217" y="1052736"/>
            <a:ext cx="5093895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Nearest Addition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8353677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512" y="940658"/>
            <a:ext cx="5093895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Nearest Addition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496" y="4563125"/>
            <a:ext cx="8745984" cy="594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5590234"/>
            <a:ext cx="8568952" cy="575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09487" y="1660738"/>
            <a:ext cx="5086649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Prim’s Algorithm for Minimum Spanning Trees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9020" y="2276872"/>
            <a:ext cx="6681292" cy="185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980728"/>
            <a:ext cx="1828514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err="1" smtClean="0">
                <a:solidFill>
                  <a:schemeClr val="bg1"/>
                </a:solidFill>
              </a:rPr>
              <a:t>Eulerian</a:t>
            </a:r>
            <a:r>
              <a:rPr lang="en-GB" sz="2000" b="1" dirty="0" smtClean="0">
                <a:solidFill>
                  <a:schemeClr val="bg1"/>
                </a:solidFill>
              </a:rPr>
              <a:t> graphs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7313092" cy="849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564904"/>
            <a:ext cx="7317209" cy="664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552938"/>
            <a:ext cx="8424936" cy="820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50753"/>
            <a:ext cx="6408712" cy="74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512" y="868650"/>
            <a:ext cx="4625497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Double -tree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5589240"/>
            <a:ext cx="8496944" cy="536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4607" y="1556792"/>
            <a:ext cx="6197633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512" y="868650"/>
            <a:ext cx="4625497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Double -tree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4102597" y="220486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348244" y="328498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868144" y="3302815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059832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/>
          <p:cNvSpPr/>
          <p:nvPr/>
        </p:nvSpPr>
        <p:spPr>
          <a:xfrm>
            <a:off x="5004048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/>
          <p:cNvCxnSpPr>
            <a:stCxn id="2" idx="1"/>
            <a:endCxn id="10" idx="1"/>
          </p:cNvCxnSpPr>
          <p:nvPr/>
        </p:nvCxnSpPr>
        <p:spPr>
          <a:xfrm>
            <a:off x="4123688" y="2225955"/>
            <a:ext cx="1765547" cy="1097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3"/>
            <a:endCxn id="12" idx="0"/>
          </p:cNvCxnSpPr>
          <p:nvPr/>
        </p:nvCxnSpPr>
        <p:spPr>
          <a:xfrm flipH="1">
            <a:off x="5076056" y="3425740"/>
            <a:ext cx="813179" cy="1875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" idx="4"/>
            <a:endCxn id="12" idx="1"/>
          </p:cNvCxnSpPr>
          <p:nvPr/>
        </p:nvCxnSpPr>
        <p:spPr>
          <a:xfrm>
            <a:off x="4174605" y="2348880"/>
            <a:ext cx="850534" cy="2973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" idx="3"/>
            <a:endCxn id="11" idx="7"/>
          </p:cNvCxnSpPr>
          <p:nvPr/>
        </p:nvCxnSpPr>
        <p:spPr>
          <a:xfrm flipH="1">
            <a:off x="3182757" y="2327789"/>
            <a:ext cx="940931" cy="2994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" idx="2"/>
            <a:endCxn id="9" idx="4"/>
          </p:cNvCxnSpPr>
          <p:nvPr/>
        </p:nvCxnSpPr>
        <p:spPr>
          <a:xfrm flipH="1">
            <a:off x="2420252" y="2276872"/>
            <a:ext cx="1682345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9" idx="4"/>
            <a:endCxn id="11" idx="0"/>
          </p:cNvCxnSpPr>
          <p:nvPr/>
        </p:nvCxnSpPr>
        <p:spPr>
          <a:xfrm>
            <a:off x="2420252" y="3429000"/>
            <a:ext cx="711588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Straight Connector 3072"/>
          <p:cNvCxnSpPr>
            <a:stCxn id="11" idx="6"/>
            <a:endCxn id="10" idx="2"/>
          </p:cNvCxnSpPr>
          <p:nvPr/>
        </p:nvCxnSpPr>
        <p:spPr>
          <a:xfrm flipV="1">
            <a:off x="3203848" y="3374823"/>
            <a:ext cx="2664296" cy="1998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6" name="Straight Connector 3075"/>
          <p:cNvCxnSpPr>
            <a:stCxn id="9" idx="6"/>
            <a:endCxn id="10" idx="2"/>
          </p:cNvCxnSpPr>
          <p:nvPr/>
        </p:nvCxnSpPr>
        <p:spPr>
          <a:xfrm>
            <a:off x="2492260" y="3356992"/>
            <a:ext cx="3375884" cy="17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Straight Connector 3077"/>
          <p:cNvCxnSpPr>
            <a:stCxn id="9" idx="5"/>
            <a:endCxn id="12" idx="3"/>
          </p:cNvCxnSpPr>
          <p:nvPr/>
        </p:nvCxnSpPr>
        <p:spPr>
          <a:xfrm>
            <a:off x="2471169" y="3407909"/>
            <a:ext cx="2553970" cy="2016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0" name="Straight Connector 3079"/>
          <p:cNvCxnSpPr>
            <a:stCxn id="11" idx="6"/>
            <a:endCxn id="12" idx="2"/>
          </p:cNvCxnSpPr>
          <p:nvPr/>
        </p:nvCxnSpPr>
        <p:spPr>
          <a:xfrm>
            <a:off x="3203848" y="5373216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2" name="TextBox 3081"/>
          <p:cNvSpPr txBox="1"/>
          <p:nvPr/>
        </p:nvSpPr>
        <p:spPr>
          <a:xfrm>
            <a:off x="4180202" y="170080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083" name="TextBox 3082"/>
          <p:cNvSpPr txBox="1"/>
          <p:nvPr/>
        </p:nvSpPr>
        <p:spPr>
          <a:xfrm>
            <a:off x="6228184" y="31409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086" name="TextBox 3085"/>
          <p:cNvSpPr txBox="1"/>
          <p:nvPr/>
        </p:nvSpPr>
        <p:spPr>
          <a:xfrm>
            <a:off x="5292080" y="544522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087" name="TextBox 3086"/>
          <p:cNvSpPr txBox="1"/>
          <p:nvPr/>
        </p:nvSpPr>
        <p:spPr>
          <a:xfrm>
            <a:off x="2776046" y="544522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</a:t>
            </a:r>
            <a:endParaRPr lang="en-GB" dirty="0"/>
          </a:p>
        </p:txBody>
      </p:sp>
      <p:sp>
        <p:nvSpPr>
          <p:cNvPr id="3088" name="TextBox 3087"/>
          <p:cNvSpPr txBox="1"/>
          <p:nvPr/>
        </p:nvSpPr>
        <p:spPr>
          <a:xfrm>
            <a:off x="2051720" y="3140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</a:p>
        </p:txBody>
      </p:sp>
      <p:sp>
        <p:nvSpPr>
          <p:cNvPr id="3091" name="TextBox 3090"/>
          <p:cNvSpPr txBox="1"/>
          <p:nvPr/>
        </p:nvSpPr>
        <p:spPr>
          <a:xfrm>
            <a:off x="3118186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3" name="TextBox 52"/>
          <p:cNvSpPr txBox="1"/>
          <p:nvPr/>
        </p:nvSpPr>
        <p:spPr>
          <a:xfrm>
            <a:off x="2843808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4" name="TextBox 53"/>
          <p:cNvSpPr txBox="1"/>
          <p:nvPr/>
        </p:nvSpPr>
        <p:spPr>
          <a:xfrm>
            <a:off x="2843808" y="34917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55" name="TextBox 54"/>
          <p:cNvSpPr txBox="1"/>
          <p:nvPr/>
        </p:nvSpPr>
        <p:spPr>
          <a:xfrm>
            <a:off x="2627784" y="3851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6" name="TextBox 55"/>
          <p:cNvSpPr txBox="1"/>
          <p:nvPr/>
        </p:nvSpPr>
        <p:spPr>
          <a:xfrm>
            <a:off x="3766258" y="25556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7" name="TextBox 56"/>
          <p:cNvSpPr txBox="1"/>
          <p:nvPr/>
        </p:nvSpPr>
        <p:spPr>
          <a:xfrm>
            <a:off x="4283968" y="26369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58" name="TextBox 57"/>
          <p:cNvSpPr txBox="1"/>
          <p:nvPr/>
        </p:nvSpPr>
        <p:spPr>
          <a:xfrm>
            <a:off x="5004048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9" name="TextBox 58"/>
          <p:cNvSpPr txBox="1"/>
          <p:nvPr/>
        </p:nvSpPr>
        <p:spPr>
          <a:xfrm>
            <a:off x="5508104" y="42838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60" name="TextBox 59"/>
          <p:cNvSpPr txBox="1"/>
          <p:nvPr/>
        </p:nvSpPr>
        <p:spPr>
          <a:xfrm>
            <a:off x="5278426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3851920" y="53012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563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512" y="868650"/>
            <a:ext cx="4625497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Double -tree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4102597" y="220486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348244" y="328498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868144" y="3302815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059832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/>
          <p:cNvSpPr/>
          <p:nvPr/>
        </p:nvSpPr>
        <p:spPr>
          <a:xfrm>
            <a:off x="5004048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/>
          <p:cNvCxnSpPr>
            <a:stCxn id="2" idx="1"/>
            <a:endCxn id="10" idx="1"/>
          </p:cNvCxnSpPr>
          <p:nvPr/>
        </p:nvCxnSpPr>
        <p:spPr>
          <a:xfrm>
            <a:off x="4123688" y="2225955"/>
            <a:ext cx="1765547" cy="109795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3"/>
            <a:endCxn id="12" idx="0"/>
          </p:cNvCxnSpPr>
          <p:nvPr/>
        </p:nvCxnSpPr>
        <p:spPr>
          <a:xfrm flipH="1">
            <a:off x="5076056" y="3425740"/>
            <a:ext cx="813179" cy="1875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" idx="4"/>
            <a:endCxn id="12" idx="1"/>
          </p:cNvCxnSpPr>
          <p:nvPr/>
        </p:nvCxnSpPr>
        <p:spPr>
          <a:xfrm>
            <a:off x="4174605" y="2348880"/>
            <a:ext cx="850534" cy="2973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" idx="3"/>
            <a:endCxn id="11" idx="7"/>
          </p:cNvCxnSpPr>
          <p:nvPr/>
        </p:nvCxnSpPr>
        <p:spPr>
          <a:xfrm flipH="1">
            <a:off x="3182757" y="2327789"/>
            <a:ext cx="940931" cy="2994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" idx="2"/>
            <a:endCxn id="9" idx="4"/>
          </p:cNvCxnSpPr>
          <p:nvPr/>
        </p:nvCxnSpPr>
        <p:spPr>
          <a:xfrm flipH="1">
            <a:off x="2420252" y="2276872"/>
            <a:ext cx="1682345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9" idx="4"/>
            <a:endCxn id="11" idx="0"/>
          </p:cNvCxnSpPr>
          <p:nvPr/>
        </p:nvCxnSpPr>
        <p:spPr>
          <a:xfrm>
            <a:off x="2420252" y="3429000"/>
            <a:ext cx="711588" cy="187220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Straight Connector 3072"/>
          <p:cNvCxnSpPr>
            <a:stCxn id="11" idx="6"/>
            <a:endCxn id="10" idx="2"/>
          </p:cNvCxnSpPr>
          <p:nvPr/>
        </p:nvCxnSpPr>
        <p:spPr>
          <a:xfrm flipV="1">
            <a:off x="3203848" y="3374823"/>
            <a:ext cx="2664296" cy="1998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6" name="Straight Connector 3075"/>
          <p:cNvCxnSpPr>
            <a:stCxn id="9" idx="6"/>
            <a:endCxn id="10" idx="2"/>
          </p:cNvCxnSpPr>
          <p:nvPr/>
        </p:nvCxnSpPr>
        <p:spPr>
          <a:xfrm>
            <a:off x="2492260" y="3356992"/>
            <a:ext cx="3375884" cy="178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Straight Connector 3077"/>
          <p:cNvCxnSpPr>
            <a:stCxn id="9" idx="5"/>
            <a:endCxn id="12" idx="3"/>
          </p:cNvCxnSpPr>
          <p:nvPr/>
        </p:nvCxnSpPr>
        <p:spPr>
          <a:xfrm>
            <a:off x="2471169" y="3407909"/>
            <a:ext cx="2553970" cy="20162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0" name="Straight Connector 3079"/>
          <p:cNvCxnSpPr>
            <a:stCxn id="11" idx="6"/>
            <a:endCxn id="12" idx="2"/>
          </p:cNvCxnSpPr>
          <p:nvPr/>
        </p:nvCxnSpPr>
        <p:spPr>
          <a:xfrm>
            <a:off x="3203848" y="5373216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2" name="TextBox 3081"/>
          <p:cNvSpPr txBox="1"/>
          <p:nvPr/>
        </p:nvSpPr>
        <p:spPr>
          <a:xfrm>
            <a:off x="4180202" y="170080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083" name="TextBox 3082"/>
          <p:cNvSpPr txBox="1"/>
          <p:nvPr/>
        </p:nvSpPr>
        <p:spPr>
          <a:xfrm>
            <a:off x="6228184" y="31409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086" name="TextBox 3085"/>
          <p:cNvSpPr txBox="1"/>
          <p:nvPr/>
        </p:nvSpPr>
        <p:spPr>
          <a:xfrm>
            <a:off x="5292080" y="544522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087" name="TextBox 3086"/>
          <p:cNvSpPr txBox="1"/>
          <p:nvPr/>
        </p:nvSpPr>
        <p:spPr>
          <a:xfrm>
            <a:off x="2776046" y="544522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</a:t>
            </a:r>
            <a:endParaRPr lang="en-GB" dirty="0"/>
          </a:p>
        </p:txBody>
      </p:sp>
      <p:sp>
        <p:nvSpPr>
          <p:cNvPr id="3088" name="TextBox 3087"/>
          <p:cNvSpPr txBox="1"/>
          <p:nvPr/>
        </p:nvSpPr>
        <p:spPr>
          <a:xfrm>
            <a:off x="2051720" y="3140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</a:p>
        </p:txBody>
      </p:sp>
      <p:sp>
        <p:nvSpPr>
          <p:cNvPr id="3091" name="TextBox 3090"/>
          <p:cNvSpPr txBox="1"/>
          <p:nvPr/>
        </p:nvSpPr>
        <p:spPr>
          <a:xfrm>
            <a:off x="3118186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3" name="TextBox 52"/>
          <p:cNvSpPr txBox="1"/>
          <p:nvPr/>
        </p:nvSpPr>
        <p:spPr>
          <a:xfrm>
            <a:off x="2843808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4" name="TextBox 53"/>
          <p:cNvSpPr txBox="1"/>
          <p:nvPr/>
        </p:nvSpPr>
        <p:spPr>
          <a:xfrm>
            <a:off x="2843808" y="34917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55" name="TextBox 54"/>
          <p:cNvSpPr txBox="1"/>
          <p:nvPr/>
        </p:nvSpPr>
        <p:spPr>
          <a:xfrm>
            <a:off x="2627784" y="3851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6" name="TextBox 55"/>
          <p:cNvSpPr txBox="1"/>
          <p:nvPr/>
        </p:nvSpPr>
        <p:spPr>
          <a:xfrm>
            <a:off x="3766258" y="25556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7" name="TextBox 56"/>
          <p:cNvSpPr txBox="1"/>
          <p:nvPr/>
        </p:nvSpPr>
        <p:spPr>
          <a:xfrm>
            <a:off x="4283968" y="26369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58" name="TextBox 57"/>
          <p:cNvSpPr txBox="1"/>
          <p:nvPr/>
        </p:nvSpPr>
        <p:spPr>
          <a:xfrm>
            <a:off x="5004048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9" name="TextBox 58"/>
          <p:cNvSpPr txBox="1"/>
          <p:nvPr/>
        </p:nvSpPr>
        <p:spPr>
          <a:xfrm>
            <a:off x="5508104" y="42838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60" name="TextBox 59"/>
          <p:cNvSpPr txBox="1"/>
          <p:nvPr/>
        </p:nvSpPr>
        <p:spPr>
          <a:xfrm>
            <a:off x="5278426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3851920" y="53012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170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512" y="868650"/>
            <a:ext cx="4625497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Double -tree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4102597" y="220486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348244" y="328498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868144" y="3302815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059832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/>
          <p:cNvSpPr/>
          <p:nvPr/>
        </p:nvSpPr>
        <p:spPr>
          <a:xfrm>
            <a:off x="5004048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/>
          <p:cNvCxnSpPr>
            <a:stCxn id="2" idx="1"/>
            <a:endCxn id="10" idx="1"/>
          </p:cNvCxnSpPr>
          <p:nvPr/>
        </p:nvCxnSpPr>
        <p:spPr>
          <a:xfrm>
            <a:off x="4123688" y="2225955"/>
            <a:ext cx="1765547" cy="109795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3"/>
            <a:endCxn id="12" idx="0"/>
          </p:cNvCxnSpPr>
          <p:nvPr/>
        </p:nvCxnSpPr>
        <p:spPr>
          <a:xfrm flipH="1">
            <a:off x="5076056" y="3425740"/>
            <a:ext cx="813179" cy="1875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" idx="4"/>
            <a:endCxn id="12" idx="1"/>
          </p:cNvCxnSpPr>
          <p:nvPr/>
        </p:nvCxnSpPr>
        <p:spPr>
          <a:xfrm>
            <a:off x="4174605" y="2348880"/>
            <a:ext cx="850534" cy="2973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" idx="3"/>
            <a:endCxn id="11" idx="7"/>
          </p:cNvCxnSpPr>
          <p:nvPr/>
        </p:nvCxnSpPr>
        <p:spPr>
          <a:xfrm flipH="1">
            <a:off x="3182757" y="2327789"/>
            <a:ext cx="940931" cy="2994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" idx="2"/>
            <a:endCxn id="9" idx="4"/>
          </p:cNvCxnSpPr>
          <p:nvPr/>
        </p:nvCxnSpPr>
        <p:spPr>
          <a:xfrm flipH="1">
            <a:off x="2420252" y="2276872"/>
            <a:ext cx="1682345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9" idx="4"/>
            <a:endCxn id="11" idx="0"/>
          </p:cNvCxnSpPr>
          <p:nvPr/>
        </p:nvCxnSpPr>
        <p:spPr>
          <a:xfrm>
            <a:off x="2420252" y="3429000"/>
            <a:ext cx="711588" cy="187220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Straight Connector 3072"/>
          <p:cNvCxnSpPr>
            <a:stCxn id="11" idx="6"/>
            <a:endCxn id="10" idx="2"/>
          </p:cNvCxnSpPr>
          <p:nvPr/>
        </p:nvCxnSpPr>
        <p:spPr>
          <a:xfrm flipV="1">
            <a:off x="3203848" y="3374823"/>
            <a:ext cx="2664296" cy="1998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6" name="Straight Connector 3075"/>
          <p:cNvCxnSpPr>
            <a:stCxn id="9" idx="6"/>
            <a:endCxn id="10" idx="2"/>
          </p:cNvCxnSpPr>
          <p:nvPr/>
        </p:nvCxnSpPr>
        <p:spPr>
          <a:xfrm>
            <a:off x="2492260" y="3356992"/>
            <a:ext cx="3375884" cy="178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Straight Connector 3077"/>
          <p:cNvCxnSpPr>
            <a:stCxn id="9" idx="5"/>
            <a:endCxn id="12" idx="3"/>
          </p:cNvCxnSpPr>
          <p:nvPr/>
        </p:nvCxnSpPr>
        <p:spPr>
          <a:xfrm>
            <a:off x="2471169" y="3407909"/>
            <a:ext cx="2553970" cy="20162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0" name="Straight Connector 3079"/>
          <p:cNvCxnSpPr>
            <a:stCxn id="11" idx="6"/>
            <a:endCxn id="12" idx="2"/>
          </p:cNvCxnSpPr>
          <p:nvPr/>
        </p:nvCxnSpPr>
        <p:spPr>
          <a:xfrm>
            <a:off x="3203848" y="5373216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2" name="TextBox 3081"/>
          <p:cNvSpPr txBox="1"/>
          <p:nvPr/>
        </p:nvSpPr>
        <p:spPr>
          <a:xfrm>
            <a:off x="4180202" y="170080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083" name="TextBox 3082"/>
          <p:cNvSpPr txBox="1"/>
          <p:nvPr/>
        </p:nvSpPr>
        <p:spPr>
          <a:xfrm>
            <a:off x="6228184" y="31409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086" name="TextBox 3085"/>
          <p:cNvSpPr txBox="1"/>
          <p:nvPr/>
        </p:nvSpPr>
        <p:spPr>
          <a:xfrm>
            <a:off x="5292080" y="544522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087" name="TextBox 3086"/>
          <p:cNvSpPr txBox="1"/>
          <p:nvPr/>
        </p:nvSpPr>
        <p:spPr>
          <a:xfrm>
            <a:off x="2776046" y="544522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</a:t>
            </a:r>
            <a:endParaRPr lang="en-GB" dirty="0"/>
          </a:p>
        </p:txBody>
      </p:sp>
      <p:sp>
        <p:nvSpPr>
          <p:cNvPr id="3088" name="TextBox 3087"/>
          <p:cNvSpPr txBox="1"/>
          <p:nvPr/>
        </p:nvSpPr>
        <p:spPr>
          <a:xfrm>
            <a:off x="2051720" y="3140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</a:p>
        </p:txBody>
      </p:sp>
      <p:sp>
        <p:nvSpPr>
          <p:cNvPr id="3091" name="TextBox 3090"/>
          <p:cNvSpPr txBox="1"/>
          <p:nvPr/>
        </p:nvSpPr>
        <p:spPr>
          <a:xfrm>
            <a:off x="3118186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3" name="TextBox 52"/>
          <p:cNvSpPr txBox="1"/>
          <p:nvPr/>
        </p:nvSpPr>
        <p:spPr>
          <a:xfrm>
            <a:off x="2843808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4" name="TextBox 53"/>
          <p:cNvSpPr txBox="1"/>
          <p:nvPr/>
        </p:nvSpPr>
        <p:spPr>
          <a:xfrm>
            <a:off x="2843808" y="34917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55" name="TextBox 54"/>
          <p:cNvSpPr txBox="1"/>
          <p:nvPr/>
        </p:nvSpPr>
        <p:spPr>
          <a:xfrm>
            <a:off x="2627784" y="3851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6" name="TextBox 55"/>
          <p:cNvSpPr txBox="1"/>
          <p:nvPr/>
        </p:nvSpPr>
        <p:spPr>
          <a:xfrm>
            <a:off x="3766258" y="25556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7" name="TextBox 56"/>
          <p:cNvSpPr txBox="1"/>
          <p:nvPr/>
        </p:nvSpPr>
        <p:spPr>
          <a:xfrm>
            <a:off x="4283968" y="26369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58" name="TextBox 57"/>
          <p:cNvSpPr txBox="1"/>
          <p:nvPr/>
        </p:nvSpPr>
        <p:spPr>
          <a:xfrm>
            <a:off x="5004048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9" name="TextBox 58"/>
          <p:cNvSpPr txBox="1"/>
          <p:nvPr/>
        </p:nvSpPr>
        <p:spPr>
          <a:xfrm>
            <a:off x="5508104" y="42838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60" name="TextBox 59"/>
          <p:cNvSpPr txBox="1"/>
          <p:nvPr/>
        </p:nvSpPr>
        <p:spPr>
          <a:xfrm>
            <a:off x="5278426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3851920" y="53012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3" name="Freeform 2"/>
          <p:cNvSpPr/>
          <p:nvPr/>
        </p:nvSpPr>
        <p:spPr>
          <a:xfrm>
            <a:off x="4209393" y="2254469"/>
            <a:ext cx="1718441" cy="1056290"/>
          </a:xfrm>
          <a:custGeom>
            <a:avLst/>
            <a:gdLst>
              <a:gd name="connsiteX0" fmla="*/ 0 w 1718441"/>
              <a:gd name="connsiteY0" fmla="*/ 0 h 1056290"/>
              <a:gd name="connsiteX1" fmla="*/ 1166648 w 1718441"/>
              <a:gd name="connsiteY1" fmla="*/ 315310 h 1056290"/>
              <a:gd name="connsiteX2" fmla="*/ 1718441 w 1718441"/>
              <a:gd name="connsiteY2" fmla="*/ 1056290 h 1056290"/>
              <a:gd name="connsiteX3" fmla="*/ 1718441 w 1718441"/>
              <a:gd name="connsiteY3" fmla="*/ 1056290 h 105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8441" h="1056290">
                <a:moveTo>
                  <a:pt x="0" y="0"/>
                </a:moveTo>
                <a:cubicBezTo>
                  <a:pt x="440120" y="69631"/>
                  <a:pt x="880241" y="139262"/>
                  <a:pt x="1166648" y="315310"/>
                </a:cubicBezTo>
                <a:cubicBezTo>
                  <a:pt x="1453055" y="491358"/>
                  <a:pt x="1718441" y="1056290"/>
                  <a:pt x="1718441" y="1056290"/>
                </a:cubicBezTo>
                <a:lnTo>
                  <a:pt x="1718441" y="1056290"/>
                </a:ln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reeform 4"/>
          <p:cNvSpPr/>
          <p:nvPr/>
        </p:nvSpPr>
        <p:spPr>
          <a:xfrm>
            <a:off x="2427890" y="3373821"/>
            <a:ext cx="3468413" cy="252338"/>
          </a:xfrm>
          <a:custGeom>
            <a:avLst/>
            <a:gdLst>
              <a:gd name="connsiteX0" fmla="*/ 3468413 w 3468413"/>
              <a:gd name="connsiteY0" fmla="*/ 0 h 252338"/>
              <a:gd name="connsiteX1" fmla="*/ 1576551 w 3468413"/>
              <a:gd name="connsiteY1" fmla="*/ 252248 h 252338"/>
              <a:gd name="connsiteX2" fmla="*/ 0 w 3468413"/>
              <a:gd name="connsiteY2" fmla="*/ 31531 h 252338"/>
              <a:gd name="connsiteX3" fmla="*/ 0 w 3468413"/>
              <a:gd name="connsiteY3" fmla="*/ 31531 h 25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8413" h="252338">
                <a:moveTo>
                  <a:pt x="3468413" y="0"/>
                </a:moveTo>
                <a:cubicBezTo>
                  <a:pt x="2811516" y="123496"/>
                  <a:pt x="2154620" y="246993"/>
                  <a:pt x="1576551" y="252248"/>
                </a:cubicBezTo>
                <a:cubicBezTo>
                  <a:pt x="998482" y="257503"/>
                  <a:pt x="0" y="31531"/>
                  <a:pt x="0" y="31531"/>
                </a:cubicBezTo>
                <a:lnTo>
                  <a:pt x="0" y="31531"/>
                </a:ln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2443655" y="3373821"/>
            <a:ext cx="2601311" cy="2033751"/>
          </a:xfrm>
          <a:custGeom>
            <a:avLst/>
            <a:gdLst>
              <a:gd name="connsiteX0" fmla="*/ 0 w 2601311"/>
              <a:gd name="connsiteY0" fmla="*/ 0 h 2033751"/>
              <a:gd name="connsiteX1" fmla="*/ 1229711 w 2601311"/>
              <a:gd name="connsiteY1" fmla="*/ 1324303 h 2033751"/>
              <a:gd name="connsiteX2" fmla="*/ 2601311 w 2601311"/>
              <a:gd name="connsiteY2" fmla="*/ 2033751 h 2033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1311" h="2033751">
                <a:moveTo>
                  <a:pt x="0" y="0"/>
                </a:moveTo>
                <a:cubicBezTo>
                  <a:pt x="398079" y="492672"/>
                  <a:pt x="796159" y="985345"/>
                  <a:pt x="1229711" y="1324303"/>
                </a:cubicBezTo>
                <a:cubicBezTo>
                  <a:pt x="1663263" y="1663261"/>
                  <a:pt x="2132287" y="1848506"/>
                  <a:pt x="2601311" y="2033751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 7"/>
          <p:cNvSpPr/>
          <p:nvPr/>
        </p:nvSpPr>
        <p:spPr>
          <a:xfrm>
            <a:off x="2364828" y="3389586"/>
            <a:ext cx="772510" cy="1986455"/>
          </a:xfrm>
          <a:custGeom>
            <a:avLst/>
            <a:gdLst>
              <a:gd name="connsiteX0" fmla="*/ 0 w 772510"/>
              <a:gd name="connsiteY0" fmla="*/ 0 h 1986455"/>
              <a:gd name="connsiteX1" fmla="*/ 204951 w 772510"/>
              <a:gd name="connsiteY1" fmla="*/ 1198180 h 1986455"/>
              <a:gd name="connsiteX2" fmla="*/ 772510 w 772510"/>
              <a:gd name="connsiteY2" fmla="*/ 1986455 h 198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2510" h="1986455">
                <a:moveTo>
                  <a:pt x="0" y="0"/>
                </a:moveTo>
                <a:cubicBezTo>
                  <a:pt x="38099" y="433552"/>
                  <a:pt x="76199" y="867104"/>
                  <a:pt x="204951" y="1198180"/>
                </a:cubicBezTo>
                <a:cubicBezTo>
                  <a:pt x="333703" y="1529256"/>
                  <a:pt x="553106" y="1757855"/>
                  <a:pt x="772510" y="1986455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619672" y="5814556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 smtClean="0"/>
              <a:t>a,b,e,c,e,d,e,b,a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965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512" y="868650"/>
            <a:ext cx="4625497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Double -tree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4102597" y="220486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348244" y="328498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868144" y="3302815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059832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/>
          <p:cNvSpPr/>
          <p:nvPr/>
        </p:nvSpPr>
        <p:spPr>
          <a:xfrm>
            <a:off x="5004048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/>
          <p:cNvCxnSpPr>
            <a:stCxn id="2" idx="1"/>
            <a:endCxn id="10" idx="1"/>
          </p:cNvCxnSpPr>
          <p:nvPr/>
        </p:nvCxnSpPr>
        <p:spPr>
          <a:xfrm>
            <a:off x="4123688" y="2225955"/>
            <a:ext cx="1765547" cy="109795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3"/>
            <a:endCxn id="12" idx="0"/>
          </p:cNvCxnSpPr>
          <p:nvPr/>
        </p:nvCxnSpPr>
        <p:spPr>
          <a:xfrm flipH="1">
            <a:off x="5076056" y="3425740"/>
            <a:ext cx="813179" cy="1875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" idx="4"/>
            <a:endCxn id="12" idx="1"/>
          </p:cNvCxnSpPr>
          <p:nvPr/>
        </p:nvCxnSpPr>
        <p:spPr>
          <a:xfrm>
            <a:off x="4174605" y="2348880"/>
            <a:ext cx="850534" cy="2973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" idx="3"/>
            <a:endCxn id="11" idx="7"/>
          </p:cNvCxnSpPr>
          <p:nvPr/>
        </p:nvCxnSpPr>
        <p:spPr>
          <a:xfrm flipH="1">
            <a:off x="3182757" y="2327789"/>
            <a:ext cx="940931" cy="2994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" idx="2"/>
            <a:endCxn id="9" idx="4"/>
          </p:cNvCxnSpPr>
          <p:nvPr/>
        </p:nvCxnSpPr>
        <p:spPr>
          <a:xfrm flipH="1">
            <a:off x="2420252" y="2276872"/>
            <a:ext cx="1682345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9" idx="4"/>
            <a:endCxn id="11" idx="0"/>
          </p:cNvCxnSpPr>
          <p:nvPr/>
        </p:nvCxnSpPr>
        <p:spPr>
          <a:xfrm>
            <a:off x="2420252" y="3429000"/>
            <a:ext cx="711588" cy="187220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Straight Connector 3072"/>
          <p:cNvCxnSpPr>
            <a:stCxn id="11" idx="6"/>
            <a:endCxn id="10" idx="2"/>
          </p:cNvCxnSpPr>
          <p:nvPr/>
        </p:nvCxnSpPr>
        <p:spPr>
          <a:xfrm flipV="1">
            <a:off x="3203848" y="3374823"/>
            <a:ext cx="2664296" cy="1998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6" name="Straight Connector 3075"/>
          <p:cNvCxnSpPr>
            <a:stCxn id="9" idx="6"/>
            <a:endCxn id="10" idx="2"/>
          </p:cNvCxnSpPr>
          <p:nvPr/>
        </p:nvCxnSpPr>
        <p:spPr>
          <a:xfrm>
            <a:off x="2492260" y="3356992"/>
            <a:ext cx="3375884" cy="178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Straight Connector 3077"/>
          <p:cNvCxnSpPr>
            <a:stCxn id="9" idx="5"/>
            <a:endCxn id="12" idx="3"/>
          </p:cNvCxnSpPr>
          <p:nvPr/>
        </p:nvCxnSpPr>
        <p:spPr>
          <a:xfrm>
            <a:off x="2471169" y="3407909"/>
            <a:ext cx="2553970" cy="20162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0" name="Straight Connector 3079"/>
          <p:cNvCxnSpPr>
            <a:stCxn id="11" idx="6"/>
            <a:endCxn id="12" idx="2"/>
          </p:cNvCxnSpPr>
          <p:nvPr/>
        </p:nvCxnSpPr>
        <p:spPr>
          <a:xfrm>
            <a:off x="3203848" y="5373216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2" name="TextBox 3081"/>
          <p:cNvSpPr txBox="1"/>
          <p:nvPr/>
        </p:nvSpPr>
        <p:spPr>
          <a:xfrm>
            <a:off x="4180202" y="170080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083" name="TextBox 3082"/>
          <p:cNvSpPr txBox="1"/>
          <p:nvPr/>
        </p:nvSpPr>
        <p:spPr>
          <a:xfrm>
            <a:off x="6228184" y="31409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086" name="TextBox 3085"/>
          <p:cNvSpPr txBox="1"/>
          <p:nvPr/>
        </p:nvSpPr>
        <p:spPr>
          <a:xfrm>
            <a:off x="5292080" y="544522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087" name="TextBox 3086"/>
          <p:cNvSpPr txBox="1"/>
          <p:nvPr/>
        </p:nvSpPr>
        <p:spPr>
          <a:xfrm>
            <a:off x="2776046" y="544522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</a:t>
            </a:r>
            <a:endParaRPr lang="en-GB" dirty="0"/>
          </a:p>
        </p:txBody>
      </p:sp>
      <p:sp>
        <p:nvSpPr>
          <p:cNvPr id="3088" name="TextBox 3087"/>
          <p:cNvSpPr txBox="1"/>
          <p:nvPr/>
        </p:nvSpPr>
        <p:spPr>
          <a:xfrm>
            <a:off x="2051720" y="3140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</a:p>
        </p:txBody>
      </p:sp>
      <p:sp>
        <p:nvSpPr>
          <p:cNvPr id="3091" name="TextBox 3090"/>
          <p:cNvSpPr txBox="1"/>
          <p:nvPr/>
        </p:nvSpPr>
        <p:spPr>
          <a:xfrm>
            <a:off x="3118186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3" name="TextBox 52"/>
          <p:cNvSpPr txBox="1"/>
          <p:nvPr/>
        </p:nvSpPr>
        <p:spPr>
          <a:xfrm>
            <a:off x="2843808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4" name="TextBox 53"/>
          <p:cNvSpPr txBox="1"/>
          <p:nvPr/>
        </p:nvSpPr>
        <p:spPr>
          <a:xfrm>
            <a:off x="2843808" y="34917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55" name="TextBox 54"/>
          <p:cNvSpPr txBox="1"/>
          <p:nvPr/>
        </p:nvSpPr>
        <p:spPr>
          <a:xfrm>
            <a:off x="2627784" y="3851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6" name="TextBox 55"/>
          <p:cNvSpPr txBox="1"/>
          <p:nvPr/>
        </p:nvSpPr>
        <p:spPr>
          <a:xfrm>
            <a:off x="3766258" y="25556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7" name="TextBox 56"/>
          <p:cNvSpPr txBox="1"/>
          <p:nvPr/>
        </p:nvSpPr>
        <p:spPr>
          <a:xfrm>
            <a:off x="4283968" y="26369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58" name="TextBox 57"/>
          <p:cNvSpPr txBox="1"/>
          <p:nvPr/>
        </p:nvSpPr>
        <p:spPr>
          <a:xfrm>
            <a:off x="5004048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9" name="TextBox 58"/>
          <p:cNvSpPr txBox="1"/>
          <p:nvPr/>
        </p:nvSpPr>
        <p:spPr>
          <a:xfrm>
            <a:off x="5508104" y="42838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60" name="TextBox 59"/>
          <p:cNvSpPr txBox="1"/>
          <p:nvPr/>
        </p:nvSpPr>
        <p:spPr>
          <a:xfrm>
            <a:off x="5278426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3851920" y="53012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3" name="Freeform 2"/>
          <p:cNvSpPr/>
          <p:nvPr/>
        </p:nvSpPr>
        <p:spPr>
          <a:xfrm>
            <a:off x="4209393" y="2254469"/>
            <a:ext cx="1718441" cy="1056290"/>
          </a:xfrm>
          <a:custGeom>
            <a:avLst/>
            <a:gdLst>
              <a:gd name="connsiteX0" fmla="*/ 0 w 1718441"/>
              <a:gd name="connsiteY0" fmla="*/ 0 h 1056290"/>
              <a:gd name="connsiteX1" fmla="*/ 1166648 w 1718441"/>
              <a:gd name="connsiteY1" fmla="*/ 315310 h 1056290"/>
              <a:gd name="connsiteX2" fmla="*/ 1718441 w 1718441"/>
              <a:gd name="connsiteY2" fmla="*/ 1056290 h 1056290"/>
              <a:gd name="connsiteX3" fmla="*/ 1718441 w 1718441"/>
              <a:gd name="connsiteY3" fmla="*/ 1056290 h 105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8441" h="1056290">
                <a:moveTo>
                  <a:pt x="0" y="0"/>
                </a:moveTo>
                <a:cubicBezTo>
                  <a:pt x="440120" y="69631"/>
                  <a:pt x="880241" y="139262"/>
                  <a:pt x="1166648" y="315310"/>
                </a:cubicBezTo>
                <a:cubicBezTo>
                  <a:pt x="1453055" y="491358"/>
                  <a:pt x="1718441" y="1056290"/>
                  <a:pt x="1718441" y="1056290"/>
                </a:cubicBezTo>
                <a:lnTo>
                  <a:pt x="1718441" y="1056290"/>
                </a:ln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reeform 4"/>
          <p:cNvSpPr/>
          <p:nvPr/>
        </p:nvSpPr>
        <p:spPr>
          <a:xfrm>
            <a:off x="2427890" y="3373821"/>
            <a:ext cx="3468413" cy="252338"/>
          </a:xfrm>
          <a:custGeom>
            <a:avLst/>
            <a:gdLst>
              <a:gd name="connsiteX0" fmla="*/ 3468413 w 3468413"/>
              <a:gd name="connsiteY0" fmla="*/ 0 h 252338"/>
              <a:gd name="connsiteX1" fmla="*/ 1576551 w 3468413"/>
              <a:gd name="connsiteY1" fmla="*/ 252248 h 252338"/>
              <a:gd name="connsiteX2" fmla="*/ 0 w 3468413"/>
              <a:gd name="connsiteY2" fmla="*/ 31531 h 252338"/>
              <a:gd name="connsiteX3" fmla="*/ 0 w 3468413"/>
              <a:gd name="connsiteY3" fmla="*/ 31531 h 25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8413" h="252338">
                <a:moveTo>
                  <a:pt x="3468413" y="0"/>
                </a:moveTo>
                <a:cubicBezTo>
                  <a:pt x="2811516" y="123496"/>
                  <a:pt x="2154620" y="246993"/>
                  <a:pt x="1576551" y="252248"/>
                </a:cubicBezTo>
                <a:cubicBezTo>
                  <a:pt x="998482" y="257503"/>
                  <a:pt x="0" y="31531"/>
                  <a:pt x="0" y="31531"/>
                </a:cubicBezTo>
                <a:lnTo>
                  <a:pt x="0" y="31531"/>
                </a:ln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2443655" y="3373821"/>
            <a:ext cx="2601311" cy="2033751"/>
          </a:xfrm>
          <a:custGeom>
            <a:avLst/>
            <a:gdLst>
              <a:gd name="connsiteX0" fmla="*/ 0 w 2601311"/>
              <a:gd name="connsiteY0" fmla="*/ 0 h 2033751"/>
              <a:gd name="connsiteX1" fmla="*/ 1229711 w 2601311"/>
              <a:gd name="connsiteY1" fmla="*/ 1324303 h 2033751"/>
              <a:gd name="connsiteX2" fmla="*/ 2601311 w 2601311"/>
              <a:gd name="connsiteY2" fmla="*/ 2033751 h 2033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1311" h="2033751">
                <a:moveTo>
                  <a:pt x="0" y="0"/>
                </a:moveTo>
                <a:cubicBezTo>
                  <a:pt x="398079" y="492672"/>
                  <a:pt x="796159" y="985345"/>
                  <a:pt x="1229711" y="1324303"/>
                </a:cubicBezTo>
                <a:cubicBezTo>
                  <a:pt x="1663263" y="1663261"/>
                  <a:pt x="2132287" y="1848506"/>
                  <a:pt x="2601311" y="2033751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 7"/>
          <p:cNvSpPr/>
          <p:nvPr/>
        </p:nvSpPr>
        <p:spPr>
          <a:xfrm>
            <a:off x="2364828" y="3389586"/>
            <a:ext cx="772510" cy="1986455"/>
          </a:xfrm>
          <a:custGeom>
            <a:avLst/>
            <a:gdLst>
              <a:gd name="connsiteX0" fmla="*/ 0 w 772510"/>
              <a:gd name="connsiteY0" fmla="*/ 0 h 1986455"/>
              <a:gd name="connsiteX1" fmla="*/ 204951 w 772510"/>
              <a:gd name="connsiteY1" fmla="*/ 1198180 h 1986455"/>
              <a:gd name="connsiteX2" fmla="*/ 772510 w 772510"/>
              <a:gd name="connsiteY2" fmla="*/ 1986455 h 198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2510" h="1986455">
                <a:moveTo>
                  <a:pt x="0" y="0"/>
                </a:moveTo>
                <a:cubicBezTo>
                  <a:pt x="38099" y="433552"/>
                  <a:pt x="76199" y="867104"/>
                  <a:pt x="204951" y="1198180"/>
                </a:cubicBezTo>
                <a:cubicBezTo>
                  <a:pt x="333703" y="1529256"/>
                  <a:pt x="553106" y="1757855"/>
                  <a:pt x="772510" y="1986455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/>
          <p:cNvSpPr txBox="1"/>
          <p:nvPr/>
        </p:nvSpPr>
        <p:spPr>
          <a:xfrm>
            <a:off x="1619672" y="5814556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rgbClr val="FF0000"/>
                </a:solidFill>
              </a:rPr>
              <a:t>a</a:t>
            </a:r>
            <a:r>
              <a:rPr lang="en-GB" sz="2400" dirty="0" err="1" smtClean="0"/>
              <a:t>,</a:t>
            </a:r>
            <a:r>
              <a:rPr lang="en-GB" sz="2400" b="1" dirty="0" err="1" smtClean="0">
                <a:solidFill>
                  <a:srgbClr val="FF0000"/>
                </a:solidFill>
              </a:rPr>
              <a:t>b</a:t>
            </a:r>
            <a:r>
              <a:rPr lang="en-GB" sz="2400" dirty="0" err="1" smtClean="0"/>
              <a:t>,</a:t>
            </a:r>
            <a:r>
              <a:rPr lang="en-GB" sz="2400" b="1" dirty="0" err="1" smtClean="0">
                <a:solidFill>
                  <a:srgbClr val="FF0000"/>
                </a:solidFill>
              </a:rPr>
              <a:t>e</a:t>
            </a:r>
            <a:r>
              <a:rPr lang="en-GB" sz="2400" dirty="0" err="1" smtClean="0"/>
              <a:t>,</a:t>
            </a:r>
            <a:r>
              <a:rPr lang="en-GB" sz="2400" b="1" dirty="0" err="1" smtClean="0">
                <a:solidFill>
                  <a:srgbClr val="FF0000"/>
                </a:solidFill>
              </a:rPr>
              <a:t>c</a:t>
            </a:r>
            <a:r>
              <a:rPr lang="en-GB" sz="2400" dirty="0" err="1" smtClean="0"/>
              <a:t>,e,</a:t>
            </a:r>
            <a:r>
              <a:rPr lang="en-GB" sz="2400" b="1" dirty="0" err="1" smtClean="0">
                <a:solidFill>
                  <a:srgbClr val="FF0000"/>
                </a:solidFill>
              </a:rPr>
              <a:t>d</a:t>
            </a:r>
            <a:r>
              <a:rPr lang="en-GB" sz="2400" dirty="0" err="1" smtClean="0"/>
              <a:t>,e,b,</a:t>
            </a:r>
            <a:r>
              <a:rPr lang="en-GB" sz="2400" b="1" dirty="0" err="1" smtClean="0">
                <a:solidFill>
                  <a:srgbClr val="FF0000"/>
                </a:solidFill>
              </a:rPr>
              <a:t>a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/>
          <p:cNvCxnSpPr>
            <a:stCxn id="3" idx="0"/>
            <a:endCxn id="10" idx="0"/>
          </p:cNvCxnSpPr>
          <p:nvPr/>
        </p:nvCxnSpPr>
        <p:spPr>
          <a:xfrm>
            <a:off x="4209393" y="2254469"/>
            <a:ext cx="1730759" cy="1048346"/>
          </a:xfrm>
          <a:prstGeom prst="straightConnector1">
            <a:avLst/>
          </a:prstGeom>
          <a:ln w="508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6" idx="0"/>
          </p:cNvCxnSpPr>
          <p:nvPr/>
        </p:nvCxnSpPr>
        <p:spPr>
          <a:xfrm flipH="1">
            <a:off x="2443655" y="3373821"/>
            <a:ext cx="3405991" cy="0"/>
          </a:xfrm>
          <a:prstGeom prst="straightConnector1">
            <a:avLst/>
          </a:prstGeom>
          <a:ln w="508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6" idx="0"/>
            <a:endCxn id="6" idx="2"/>
          </p:cNvCxnSpPr>
          <p:nvPr/>
        </p:nvCxnSpPr>
        <p:spPr>
          <a:xfrm>
            <a:off x="2443655" y="3373821"/>
            <a:ext cx="2601311" cy="2033751"/>
          </a:xfrm>
          <a:prstGeom prst="straightConnector1">
            <a:avLst/>
          </a:prstGeom>
          <a:ln w="508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endCxn id="8" idx="2"/>
          </p:cNvCxnSpPr>
          <p:nvPr/>
        </p:nvCxnSpPr>
        <p:spPr>
          <a:xfrm flipH="1">
            <a:off x="3137338" y="5373216"/>
            <a:ext cx="1887802" cy="2825"/>
          </a:xfrm>
          <a:prstGeom prst="straightConnector1">
            <a:avLst/>
          </a:prstGeom>
          <a:ln w="508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11" idx="7"/>
            <a:endCxn id="2" idx="3"/>
          </p:cNvCxnSpPr>
          <p:nvPr/>
        </p:nvCxnSpPr>
        <p:spPr>
          <a:xfrm flipV="1">
            <a:off x="3182757" y="2327789"/>
            <a:ext cx="940931" cy="2994510"/>
          </a:xfrm>
          <a:prstGeom prst="straightConnector1">
            <a:avLst/>
          </a:prstGeom>
          <a:ln w="508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16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116632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620688"/>
            <a:ext cx="3931204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Degree of nodes in a Spanning Tree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6061" y="1052736"/>
            <a:ext cx="7230315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19" y="5637044"/>
            <a:ext cx="8396775" cy="816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26" y="4221088"/>
            <a:ext cx="7529234" cy="121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512" y="908720"/>
            <a:ext cx="4550861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Christofides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513" y="5113302"/>
            <a:ext cx="8720967" cy="619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628800"/>
            <a:ext cx="7855248" cy="2407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Oval 1"/>
          <p:cNvSpPr/>
          <p:nvPr/>
        </p:nvSpPr>
        <p:spPr>
          <a:xfrm>
            <a:off x="4102597" y="220486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348244" y="328498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868144" y="3302815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059832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/>
          <p:cNvSpPr/>
          <p:nvPr/>
        </p:nvSpPr>
        <p:spPr>
          <a:xfrm>
            <a:off x="5004048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/>
          <p:cNvCxnSpPr>
            <a:stCxn id="2" idx="1"/>
            <a:endCxn id="10" idx="1"/>
          </p:cNvCxnSpPr>
          <p:nvPr/>
        </p:nvCxnSpPr>
        <p:spPr>
          <a:xfrm>
            <a:off x="4123688" y="2225955"/>
            <a:ext cx="1765547" cy="1097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3"/>
            <a:endCxn id="12" idx="0"/>
          </p:cNvCxnSpPr>
          <p:nvPr/>
        </p:nvCxnSpPr>
        <p:spPr>
          <a:xfrm flipH="1">
            <a:off x="5076056" y="3425740"/>
            <a:ext cx="813179" cy="1875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" idx="4"/>
            <a:endCxn id="12" idx="1"/>
          </p:cNvCxnSpPr>
          <p:nvPr/>
        </p:nvCxnSpPr>
        <p:spPr>
          <a:xfrm>
            <a:off x="4174605" y="2348880"/>
            <a:ext cx="850534" cy="2973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" idx="3"/>
            <a:endCxn id="11" idx="7"/>
          </p:cNvCxnSpPr>
          <p:nvPr/>
        </p:nvCxnSpPr>
        <p:spPr>
          <a:xfrm flipH="1">
            <a:off x="3182757" y="2327789"/>
            <a:ext cx="940931" cy="2994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" idx="2"/>
            <a:endCxn id="9" idx="4"/>
          </p:cNvCxnSpPr>
          <p:nvPr/>
        </p:nvCxnSpPr>
        <p:spPr>
          <a:xfrm flipH="1">
            <a:off x="2420252" y="2276872"/>
            <a:ext cx="1682345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9" idx="4"/>
            <a:endCxn id="11" idx="0"/>
          </p:cNvCxnSpPr>
          <p:nvPr/>
        </p:nvCxnSpPr>
        <p:spPr>
          <a:xfrm>
            <a:off x="2420252" y="3429000"/>
            <a:ext cx="711588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Straight Connector 3072"/>
          <p:cNvCxnSpPr>
            <a:stCxn id="11" idx="6"/>
            <a:endCxn id="10" idx="2"/>
          </p:cNvCxnSpPr>
          <p:nvPr/>
        </p:nvCxnSpPr>
        <p:spPr>
          <a:xfrm flipV="1">
            <a:off x="3203848" y="3374823"/>
            <a:ext cx="2664296" cy="1998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6" name="Straight Connector 3075"/>
          <p:cNvCxnSpPr>
            <a:stCxn id="9" idx="6"/>
            <a:endCxn id="10" idx="2"/>
          </p:cNvCxnSpPr>
          <p:nvPr/>
        </p:nvCxnSpPr>
        <p:spPr>
          <a:xfrm>
            <a:off x="2492260" y="3356992"/>
            <a:ext cx="3375884" cy="17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Straight Connector 3077"/>
          <p:cNvCxnSpPr>
            <a:stCxn id="9" idx="5"/>
            <a:endCxn id="12" idx="3"/>
          </p:cNvCxnSpPr>
          <p:nvPr/>
        </p:nvCxnSpPr>
        <p:spPr>
          <a:xfrm>
            <a:off x="2471169" y="3407909"/>
            <a:ext cx="2553970" cy="2016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0" name="Straight Connector 3079"/>
          <p:cNvCxnSpPr>
            <a:stCxn id="11" idx="6"/>
            <a:endCxn id="12" idx="2"/>
          </p:cNvCxnSpPr>
          <p:nvPr/>
        </p:nvCxnSpPr>
        <p:spPr>
          <a:xfrm>
            <a:off x="3203848" y="5373216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2" name="TextBox 3081"/>
          <p:cNvSpPr txBox="1"/>
          <p:nvPr/>
        </p:nvSpPr>
        <p:spPr>
          <a:xfrm>
            <a:off x="4180202" y="170080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083" name="TextBox 3082"/>
          <p:cNvSpPr txBox="1"/>
          <p:nvPr/>
        </p:nvSpPr>
        <p:spPr>
          <a:xfrm>
            <a:off x="6228184" y="31409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086" name="TextBox 3085"/>
          <p:cNvSpPr txBox="1"/>
          <p:nvPr/>
        </p:nvSpPr>
        <p:spPr>
          <a:xfrm>
            <a:off x="5292080" y="544522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087" name="TextBox 3086"/>
          <p:cNvSpPr txBox="1"/>
          <p:nvPr/>
        </p:nvSpPr>
        <p:spPr>
          <a:xfrm>
            <a:off x="2776046" y="544522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</a:t>
            </a:r>
            <a:endParaRPr lang="en-GB" dirty="0"/>
          </a:p>
        </p:txBody>
      </p:sp>
      <p:sp>
        <p:nvSpPr>
          <p:cNvPr id="3088" name="TextBox 3087"/>
          <p:cNvSpPr txBox="1"/>
          <p:nvPr/>
        </p:nvSpPr>
        <p:spPr>
          <a:xfrm>
            <a:off x="2051720" y="3140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</a:p>
        </p:txBody>
      </p:sp>
      <p:sp>
        <p:nvSpPr>
          <p:cNvPr id="3091" name="TextBox 3090"/>
          <p:cNvSpPr txBox="1"/>
          <p:nvPr/>
        </p:nvSpPr>
        <p:spPr>
          <a:xfrm>
            <a:off x="3118186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3" name="TextBox 52"/>
          <p:cNvSpPr txBox="1"/>
          <p:nvPr/>
        </p:nvSpPr>
        <p:spPr>
          <a:xfrm>
            <a:off x="2843808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4" name="TextBox 53"/>
          <p:cNvSpPr txBox="1"/>
          <p:nvPr/>
        </p:nvSpPr>
        <p:spPr>
          <a:xfrm>
            <a:off x="2843808" y="34917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55" name="TextBox 54"/>
          <p:cNvSpPr txBox="1"/>
          <p:nvPr/>
        </p:nvSpPr>
        <p:spPr>
          <a:xfrm>
            <a:off x="2627784" y="3851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6" name="TextBox 55"/>
          <p:cNvSpPr txBox="1"/>
          <p:nvPr/>
        </p:nvSpPr>
        <p:spPr>
          <a:xfrm>
            <a:off x="3766258" y="25556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7" name="TextBox 56"/>
          <p:cNvSpPr txBox="1"/>
          <p:nvPr/>
        </p:nvSpPr>
        <p:spPr>
          <a:xfrm>
            <a:off x="4283968" y="26369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58" name="TextBox 57"/>
          <p:cNvSpPr txBox="1"/>
          <p:nvPr/>
        </p:nvSpPr>
        <p:spPr>
          <a:xfrm>
            <a:off x="5004048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9" name="TextBox 58"/>
          <p:cNvSpPr txBox="1"/>
          <p:nvPr/>
        </p:nvSpPr>
        <p:spPr>
          <a:xfrm>
            <a:off x="5508104" y="42838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60" name="TextBox 59"/>
          <p:cNvSpPr txBox="1"/>
          <p:nvPr/>
        </p:nvSpPr>
        <p:spPr>
          <a:xfrm>
            <a:off x="5278426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3851920" y="53012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34" name="TextBox 33"/>
          <p:cNvSpPr txBox="1"/>
          <p:nvPr/>
        </p:nvSpPr>
        <p:spPr>
          <a:xfrm>
            <a:off x="179512" y="908720"/>
            <a:ext cx="4550861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Christofides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7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Oval 1"/>
          <p:cNvSpPr/>
          <p:nvPr/>
        </p:nvSpPr>
        <p:spPr>
          <a:xfrm>
            <a:off x="4102597" y="220486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348244" y="3284984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868144" y="3302815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059832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/>
          <p:cNvSpPr/>
          <p:nvPr/>
        </p:nvSpPr>
        <p:spPr>
          <a:xfrm>
            <a:off x="5004048" y="5301208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/>
          <p:cNvCxnSpPr>
            <a:stCxn id="2" idx="1"/>
            <a:endCxn id="10" idx="1"/>
          </p:cNvCxnSpPr>
          <p:nvPr/>
        </p:nvCxnSpPr>
        <p:spPr>
          <a:xfrm>
            <a:off x="4123688" y="2225955"/>
            <a:ext cx="1765547" cy="109795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3"/>
            <a:endCxn id="12" idx="0"/>
          </p:cNvCxnSpPr>
          <p:nvPr/>
        </p:nvCxnSpPr>
        <p:spPr>
          <a:xfrm flipH="1">
            <a:off x="5076056" y="3425740"/>
            <a:ext cx="813179" cy="1875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" idx="4"/>
            <a:endCxn id="12" idx="1"/>
          </p:cNvCxnSpPr>
          <p:nvPr/>
        </p:nvCxnSpPr>
        <p:spPr>
          <a:xfrm>
            <a:off x="4174605" y="2348880"/>
            <a:ext cx="850534" cy="2973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" idx="3"/>
            <a:endCxn id="11" idx="7"/>
          </p:cNvCxnSpPr>
          <p:nvPr/>
        </p:nvCxnSpPr>
        <p:spPr>
          <a:xfrm flipH="1">
            <a:off x="3182757" y="2327789"/>
            <a:ext cx="940931" cy="2994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" idx="2"/>
            <a:endCxn id="9" idx="4"/>
          </p:cNvCxnSpPr>
          <p:nvPr/>
        </p:nvCxnSpPr>
        <p:spPr>
          <a:xfrm flipH="1">
            <a:off x="2420252" y="2276872"/>
            <a:ext cx="1682345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9" idx="4"/>
            <a:endCxn id="11" idx="0"/>
          </p:cNvCxnSpPr>
          <p:nvPr/>
        </p:nvCxnSpPr>
        <p:spPr>
          <a:xfrm>
            <a:off x="2420252" y="3429000"/>
            <a:ext cx="711588" cy="187220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Straight Connector 3072"/>
          <p:cNvCxnSpPr>
            <a:stCxn id="11" idx="6"/>
            <a:endCxn id="10" idx="2"/>
          </p:cNvCxnSpPr>
          <p:nvPr/>
        </p:nvCxnSpPr>
        <p:spPr>
          <a:xfrm flipV="1">
            <a:off x="3203848" y="3374823"/>
            <a:ext cx="2664296" cy="1998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6" name="Straight Connector 3075"/>
          <p:cNvCxnSpPr>
            <a:stCxn id="9" idx="6"/>
            <a:endCxn id="10" idx="2"/>
          </p:cNvCxnSpPr>
          <p:nvPr/>
        </p:nvCxnSpPr>
        <p:spPr>
          <a:xfrm>
            <a:off x="2492260" y="3356992"/>
            <a:ext cx="3375884" cy="178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Straight Connector 3077"/>
          <p:cNvCxnSpPr>
            <a:stCxn id="9" idx="5"/>
            <a:endCxn id="12" idx="3"/>
          </p:cNvCxnSpPr>
          <p:nvPr/>
        </p:nvCxnSpPr>
        <p:spPr>
          <a:xfrm>
            <a:off x="2471169" y="3407909"/>
            <a:ext cx="2553970" cy="20162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0" name="Straight Connector 3079"/>
          <p:cNvCxnSpPr>
            <a:stCxn id="11" idx="6"/>
            <a:endCxn id="12" idx="2"/>
          </p:cNvCxnSpPr>
          <p:nvPr/>
        </p:nvCxnSpPr>
        <p:spPr>
          <a:xfrm>
            <a:off x="3203848" y="5373216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2" name="TextBox 3081"/>
          <p:cNvSpPr txBox="1"/>
          <p:nvPr/>
        </p:nvSpPr>
        <p:spPr>
          <a:xfrm>
            <a:off x="4180202" y="170080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083" name="TextBox 3082"/>
          <p:cNvSpPr txBox="1"/>
          <p:nvPr/>
        </p:nvSpPr>
        <p:spPr>
          <a:xfrm>
            <a:off x="6228184" y="31409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086" name="TextBox 3085"/>
          <p:cNvSpPr txBox="1"/>
          <p:nvPr/>
        </p:nvSpPr>
        <p:spPr>
          <a:xfrm>
            <a:off x="5292080" y="544522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087" name="TextBox 3086"/>
          <p:cNvSpPr txBox="1"/>
          <p:nvPr/>
        </p:nvSpPr>
        <p:spPr>
          <a:xfrm>
            <a:off x="2776046" y="544522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</a:t>
            </a:r>
            <a:endParaRPr lang="en-GB" dirty="0"/>
          </a:p>
        </p:txBody>
      </p:sp>
      <p:sp>
        <p:nvSpPr>
          <p:cNvPr id="3088" name="TextBox 3087"/>
          <p:cNvSpPr txBox="1"/>
          <p:nvPr/>
        </p:nvSpPr>
        <p:spPr>
          <a:xfrm>
            <a:off x="2051720" y="3140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</a:p>
        </p:txBody>
      </p:sp>
      <p:sp>
        <p:nvSpPr>
          <p:cNvPr id="3091" name="TextBox 3090"/>
          <p:cNvSpPr txBox="1"/>
          <p:nvPr/>
        </p:nvSpPr>
        <p:spPr>
          <a:xfrm>
            <a:off x="3118186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3" name="TextBox 52"/>
          <p:cNvSpPr txBox="1"/>
          <p:nvPr/>
        </p:nvSpPr>
        <p:spPr>
          <a:xfrm>
            <a:off x="2843808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4" name="TextBox 53"/>
          <p:cNvSpPr txBox="1"/>
          <p:nvPr/>
        </p:nvSpPr>
        <p:spPr>
          <a:xfrm>
            <a:off x="2843808" y="34917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55" name="TextBox 54"/>
          <p:cNvSpPr txBox="1"/>
          <p:nvPr/>
        </p:nvSpPr>
        <p:spPr>
          <a:xfrm>
            <a:off x="2627784" y="3851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6" name="TextBox 55"/>
          <p:cNvSpPr txBox="1"/>
          <p:nvPr/>
        </p:nvSpPr>
        <p:spPr>
          <a:xfrm>
            <a:off x="3766258" y="25556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7" name="TextBox 56"/>
          <p:cNvSpPr txBox="1"/>
          <p:nvPr/>
        </p:nvSpPr>
        <p:spPr>
          <a:xfrm>
            <a:off x="4283968" y="26369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58" name="TextBox 57"/>
          <p:cNvSpPr txBox="1"/>
          <p:nvPr/>
        </p:nvSpPr>
        <p:spPr>
          <a:xfrm>
            <a:off x="5004048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9" name="TextBox 58"/>
          <p:cNvSpPr txBox="1"/>
          <p:nvPr/>
        </p:nvSpPr>
        <p:spPr>
          <a:xfrm>
            <a:off x="5508104" y="42838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60" name="TextBox 59"/>
          <p:cNvSpPr txBox="1"/>
          <p:nvPr/>
        </p:nvSpPr>
        <p:spPr>
          <a:xfrm>
            <a:off x="5278426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3851920" y="53012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34" name="TextBox 33"/>
          <p:cNvSpPr txBox="1"/>
          <p:nvPr/>
        </p:nvSpPr>
        <p:spPr>
          <a:xfrm>
            <a:off x="179512" y="908720"/>
            <a:ext cx="4550861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Christofides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54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Oval 1"/>
          <p:cNvSpPr/>
          <p:nvPr/>
        </p:nvSpPr>
        <p:spPr>
          <a:xfrm>
            <a:off x="4102597" y="2204864"/>
            <a:ext cx="144016" cy="14401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348244" y="3284984"/>
            <a:ext cx="144016" cy="14401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868144" y="3302815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059832" y="5301208"/>
            <a:ext cx="144016" cy="14401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/>
          <p:cNvSpPr/>
          <p:nvPr/>
        </p:nvSpPr>
        <p:spPr>
          <a:xfrm>
            <a:off x="5004048" y="5301208"/>
            <a:ext cx="144016" cy="14401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/>
          <p:cNvCxnSpPr>
            <a:stCxn id="2" idx="1"/>
            <a:endCxn id="10" idx="1"/>
          </p:cNvCxnSpPr>
          <p:nvPr/>
        </p:nvCxnSpPr>
        <p:spPr>
          <a:xfrm>
            <a:off x="4123688" y="2225955"/>
            <a:ext cx="1765547" cy="109795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3"/>
            <a:endCxn id="12" idx="0"/>
          </p:cNvCxnSpPr>
          <p:nvPr/>
        </p:nvCxnSpPr>
        <p:spPr>
          <a:xfrm flipH="1">
            <a:off x="5076056" y="3425740"/>
            <a:ext cx="813179" cy="1875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" idx="4"/>
            <a:endCxn id="12" idx="1"/>
          </p:cNvCxnSpPr>
          <p:nvPr/>
        </p:nvCxnSpPr>
        <p:spPr>
          <a:xfrm>
            <a:off x="4174605" y="2348880"/>
            <a:ext cx="850534" cy="2973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" idx="3"/>
            <a:endCxn id="11" idx="7"/>
          </p:cNvCxnSpPr>
          <p:nvPr/>
        </p:nvCxnSpPr>
        <p:spPr>
          <a:xfrm flipH="1">
            <a:off x="3182757" y="2327789"/>
            <a:ext cx="940931" cy="2994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" idx="2"/>
            <a:endCxn id="9" idx="4"/>
          </p:cNvCxnSpPr>
          <p:nvPr/>
        </p:nvCxnSpPr>
        <p:spPr>
          <a:xfrm flipH="1">
            <a:off x="2420252" y="2276872"/>
            <a:ext cx="1682345" cy="1152128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9" idx="4"/>
            <a:endCxn id="11" idx="0"/>
          </p:cNvCxnSpPr>
          <p:nvPr/>
        </p:nvCxnSpPr>
        <p:spPr>
          <a:xfrm>
            <a:off x="2420252" y="3429000"/>
            <a:ext cx="711588" cy="187220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Straight Connector 3072"/>
          <p:cNvCxnSpPr>
            <a:stCxn id="11" idx="6"/>
            <a:endCxn id="10" idx="2"/>
          </p:cNvCxnSpPr>
          <p:nvPr/>
        </p:nvCxnSpPr>
        <p:spPr>
          <a:xfrm flipV="1">
            <a:off x="3203848" y="3374823"/>
            <a:ext cx="2664296" cy="1998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6" name="Straight Connector 3075"/>
          <p:cNvCxnSpPr>
            <a:stCxn id="9" idx="6"/>
            <a:endCxn id="10" idx="2"/>
          </p:cNvCxnSpPr>
          <p:nvPr/>
        </p:nvCxnSpPr>
        <p:spPr>
          <a:xfrm>
            <a:off x="2492260" y="3356992"/>
            <a:ext cx="3375884" cy="178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Straight Connector 3077"/>
          <p:cNvCxnSpPr>
            <a:stCxn id="9" idx="5"/>
            <a:endCxn id="12" idx="3"/>
          </p:cNvCxnSpPr>
          <p:nvPr/>
        </p:nvCxnSpPr>
        <p:spPr>
          <a:xfrm>
            <a:off x="2471169" y="3407909"/>
            <a:ext cx="2553970" cy="20162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0" name="Straight Connector 3079"/>
          <p:cNvCxnSpPr>
            <a:stCxn id="11" idx="6"/>
            <a:endCxn id="12" idx="2"/>
          </p:cNvCxnSpPr>
          <p:nvPr/>
        </p:nvCxnSpPr>
        <p:spPr>
          <a:xfrm>
            <a:off x="3203848" y="5373216"/>
            <a:ext cx="1800200" cy="0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2" name="TextBox 3081"/>
          <p:cNvSpPr txBox="1"/>
          <p:nvPr/>
        </p:nvSpPr>
        <p:spPr>
          <a:xfrm>
            <a:off x="4180202" y="170080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083" name="TextBox 3082"/>
          <p:cNvSpPr txBox="1"/>
          <p:nvPr/>
        </p:nvSpPr>
        <p:spPr>
          <a:xfrm>
            <a:off x="6228184" y="31409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086" name="TextBox 3085"/>
          <p:cNvSpPr txBox="1"/>
          <p:nvPr/>
        </p:nvSpPr>
        <p:spPr>
          <a:xfrm>
            <a:off x="5292080" y="544522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087" name="TextBox 3086"/>
          <p:cNvSpPr txBox="1"/>
          <p:nvPr/>
        </p:nvSpPr>
        <p:spPr>
          <a:xfrm>
            <a:off x="2776046" y="544522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</a:t>
            </a:r>
            <a:endParaRPr lang="en-GB" dirty="0"/>
          </a:p>
        </p:txBody>
      </p:sp>
      <p:sp>
        <p:nvSpPr>
          <p:cNvPr id="3088" name="TextBox 3087"/>
          <p:cNvSpPr txBox="1"/>
          <p:nvPr/>
        </p:nvSpPr>
        <p:spPr>
          <a:xfrm>
            <a:off x="2051720" y="3140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</a:p>
        </p:txBody>
      </p:sp>
      <p:sp>
        <p:nvSpPr>
          <p:cNvPr id="3091" name="TextBox 3090"/>
          <p:cNvSpPr txBox="1"/>
          <p:nvPr/>
        </p:nvSpPr>
        <p:spPr>
          <a:xfrm>
            <a:off x="3118186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3" name="TextBox 52"/>
          <p:cNvSpPr txBox="1"/>
          <p:nvPr/>
        </p:nvSpPr>
        <p:spPr>
          <a:xfrm>
            <a:off x="2843808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4" name="TextBox 53"/>
          <p:cNvSpPr txBox="1"/>
          <p:nvPr/>
        </p:nvSpPr>
        <p:spPr>
          <a:xfrm>
            <a:off x="2843808" y="34917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55" name="TextBox 54"/>
          <p:cNvSpPr txBox="1"/>
          <p:nvPr/>
        </p:nvSpPr>
        <p:spPr>
          <a:xfrm>
            <a:off x="2627784" y="3851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6" name="TextBox 55"/>
          <p:cNvSpPr txBox="1"/>
          <p:nvPr/>
        </p:nvSpPr>
        <p:spPr>
          <a:xfrm>
            <a:off x="3766258" y="25556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7" name="TextBox 56"/>
          <p:cNvSpPr txBox="1"/>
          <p:nvPr/>
        </p:nvSpPr>
        <p:spPr>
          <a:xfrm>
            <a:off x="4283968" y="26369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58" name="TextBox 57"/>
          <p:cNvSpPr txBox="1"/>
          <p:nvPr/>
        </p:nvSpPr>
        <p:spPr>
          <a:xfrm>
            <a:off x="5004048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9" name="TextBox 58"/>
          <p:cNvSpPr txBox="1"/>
          <p:nvPr/>
        </p:nvSpPr>
        <p:spPr>
          <a:xfrm>
            <a:off x="5508104" y="42838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60" name="TextBox 59"/>
          <p:cNvSpPr txBox="1"/>
          <p:nvPr/>
        </p:nvSpPr>
        <p:spPr>
          <a:xfrm>
            <a:off x="5278426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3851920" y="53012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1475656" y="6093296"/>
            <a:ext cx="1702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 smtClean="0"/>
              <a:t>a,e,d,c,e,b,a</a:t>
            </a:r>
            <a:endParaRPr lang="en-GB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179512" y="908720"/>
            <a:ext cx="4550861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Christofides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66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Oval 1"/>
          <p:cNvSpPr/>
          <p:nvPr/>
        </p:nvSpPr>
        <p:spPr>
          <a:xfrm>
            <a:off x="4102597" y="2204864"/>
            <a:ext cx="144016" cy="14401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348244" y="3284984"/>
            <a:ext cx="144016" cy="14401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868144" y="3302815"/>
            <a:ext cx="144016" cy="144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059832" y="5301208"/>
            <a:ext cx="144016" cy="14401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/>
          <p:cNvSpPr/>
          <p:nvPr/>
        </p:nvSpPr>
        <p:spPr>
          <a:xfrm>
            <a:off x="5004048" y="5301208"/>
            <a:ext cx="144016" cy="14401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/>
          <p:cNvCxnSpPr>
            <a:stCxn id="2" idx="1"/>
            <a:endCxn id="10" idx="1"/>
          </p:cNvCxnSpPr>
          <p:nvPr/>
        </p:nvCxnSpPr>
        <p:spPr>
          <a:xfrm>
            <a:off x="4123688" y="2225955"/>
            <a:ext cx="1765547" cy="109795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3"/>
            <a:endCxn id="12" idx="0"/>
          </p:cNvCxnSpPr>
          <p:nvPr/>
        </p:nvCxnSpPr>
        <p:spPr>
          <a:xfrm flipH="1">
            <a:off x="5076056" y="3425740"/>
            <a:ext cx="813179" cy="1875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" idx="4"/>
            <a:endCxn id="12" idx="1"/>
          </p:cNvCxnSpPr>
          <p:nvPr/>
        </p:nvCxnSpPr>
        <p:spPr>
          <a:xfrm>
            <a:off x="4174605" y="2348880"/>
            <a:ext cx="850534" cy="2973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" idx="3"/>
            <a:endCxn id="11" idx="7"/>
          </p:cNvCxnSpPr>
          <p:nvPr/>
        </p:nvCxnSpPr>
        <p:spPr>
          <a:xfrm flipH="1">
            <a:off x="3182757" y="2327789"/>
            <a:ext cx="940931" cy="2994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" idx="2"/>
            <a:endCxn id="9" idx="4"/>
          </p:cNvCxnSpPr>
          <p:nvPr/>
        </p:nvCxnSpPr>
        <p:spPr>
          <a:xfrm flipH="1">
            <a:off x="2420252" y="2276872"/>
            <a:ext cx="1682345" cy="1152128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9" idx="4"/>
            <a:endCxn id="11" idx="0"/>
          </p:cNvCxnSpPr>
          <p:nvPr/>
        </p:nvCxnSpPr>
        <p:spPr>
          <a:xfrm>
            <a:off x="2420252" y="3429000"/>
            <a:ext cx="711588" cy="18722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Straight Connector 3072"/>
          <p:cNvCxnSpPr>
            <a:stCxn id="11" idx="6"/>
            <a:endCxn id="10" idx="2"/>
          </p:cNvCxnSpPr>
          <p:nvPr/>
        </p:nvCxnSpPr>
        <p:spPr>
          <a:xfrm flipV="1">
            <a:off x="3203848" y="3374823"/>
            <a:ext cx="2664296" cy="1998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6" name="Straight Connector 3075"/>
          <p:cNvCxnSpPr>
            <a:stCxn id="9" idx="6"/>
            <a:endCxn id="10" idx="2"/>
          </p:cNvCxnSpPr>
          <p:nvPr/>
        </p:nvCxnSpPr>
        <p:spPr>
          <a:xfrm>
            <a:off x="2492260" y="3356992"/>
            <a:ext cx="3375884" cy="178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Straight Connector 3077"/>
          <p:cNvCxnSpPr>
            <a:stCxn id="9" idx="5"/>
            <a:endCxn id="12" idx="3"/>
          </p:cNvCxnSpPr>
          <p:nvPr/>
        </p:nvCxnSpPr>
        <p:spPr>
          <a:xfrm>
            <a:off x="2471169" y="3407909"/>
            <a:ext cx="2553970" cy="20162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0" name="Straight Connector 3079"/>
          <p:cNvCxnSpPr>
            <a:stCxn id="11" idx="6"/>
            <a:endCxn id="12" idx="2"/>
          </p:cNvCxnSpPr>
          <p:nvPr/>
        </p:nvCxnSpPr>
        <p:spPr>
          <a:xfrm>
            <a:off x="3203848" y="5373216"/>
            <a:ext cx="1800200" cy="0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2" name="TextBox 3081"/>
          <p:cNvSpPr txBox="1"/>
          <p:nvPr/>
        </p:nvSpPr>
        <p:spPr>
          <a:xfrm>
            <a:off x="4180202" y="170080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083" name="TextBox 3082"/>
          <p:cNvSpPr txBox="1"/>
          <p:nvPr/>
        </p:nvSpPr>
        <p:spPr>
          <a:xfrm>
            <a:off x="6228184" y="31409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086" name="TextBox 3085"/>
          <p:cNvSpPr txBox="1"/>
          <p:nvPr/>
        </p:nvSpPr>
        <p:spPr>
          <a:xfrm>
            <a:off x="5292080" y="544522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087" name="TextBox 3086"/>
          <p:cNvSpPr txBox="1"/>
          <p:nvPr/>
        </p:nvSpPr>
        <p:spPr>
          <a:xfrm>
            <a:off x="2776046" y="544522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</a:t>
            </a:r>
            <a:endParaRPr lang="en-GB" dirty="0"/>
          </a:p>
        </p:txBody>
      </p:sp>
      <p:sp>
        <p:nvSpPr>
          <p:cNvPr id="3088" name="TextBox 3087"/>
          <p:cNvSpPr txBox="1"/>
          <p:nvPr/>
        </p:nvSpPr>
        <p:spPr>
          <a:xfrm>
            <a:off x="2051720" y="3140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</a:p>
        </p:txBody>
      </p:sp>
      <p:sp>
        <p:nvSpPr>
          <p:cNvPr id="3091" name="TextBox 3090"/>
          <p:cNvSpPr txBox="1"/>
          <p:nvPr/>
        </p:nvSpPr>
        <p:spPr>
          <a:xfrm>
            <a:off x="3118186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3" name="TextBox 52"/>
          <p:cNvSpPr txBox="1"/>
          <p:nvPr/>
        </p:nvSpPr>
        <p:spPr>
          <a:xfrm>
            <a:off x="2843808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4" name="TextBox 53"/>
          <p:cNvSpPr txBox="1"/>
          <p:nvPr/>
        </p:nvSpPr>
        <p:spPr>
          <a:xfrm>
            <a:off x="2843808" y="34917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55" name="TextBox 54"/>
          <p:cNvSpPr txBox="1"/>
          <p:nvPr/>
        </p:nvSpPr>
        <p:spPr>
          <a:xfrm>
            <a:off x="2627784" y="3851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6" name="TextBox 55"/>
          <p:cNvSpPr txBox="1"/>
          <p:nvPr/>
        </p:nvSpPr>
        <p:spPr>
          <a:xfrm>
            <a:off x="3766258" y="25556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57" name="TextBox 56"/>
          <p:cNvSpPr txBox="1"/>
          <p:nvPr/>
        </p:nvSpPr>
        <p:spPr>
          <a:xfrm>
            <a:off x="4283968" y="26369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58" name="TextBox 57"/>
          <p:cNvSpPr txBox="1"/>
          <p:nvPr/>
        </p:nvSpPr>
        <p:spPr>
          <a:xfrm>
            <a:off x="5004048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59" name="TextBox 58"/>
          <p:cNvSpPr txBox="1"/>
          <p:nvPr/>
        </p:nvSpPr>
        <p:spPr>
          <a:xfrm>
            <a:off x="5508104" y="42838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5</a:t>
            </a:r>
            <a:endParaRPr lang="en-GB" dirty="0"/>
          </a:p>
        </p:txBody>
      </p:sp>
      <p:sp>
        <p:nvSpPr>
          <p:cNvPr id="60" name="TextBox 59"/>
          <p:cNvSpPr txBox="1"/>
          <p:nvPr/>
        </p:nvSpPr>
        <p:spPr>
          <a:xfrm>
            <a:off x="5278426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3851920" y="53012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36" name="TextBox 35"/>
          <p:cNvSpPr txBox="1"/>
          <p:nvPr/>
        </p:nvSpPr>
        <p:spPr>
          <a:xfrm>
            <a:off x="1475656" y="6093296"/>
            <a:ext cx="1702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 smtClean="0">
                <a:solidFill>
                  <a:srgbClr val="FF0000"/>
                </a:solidFill>
              </a:rPr>
              <a:t>a</a:t>
            </a:r>
            <a:r>
              <a:rPr lang="en-GB" sz="2400" dirty="0" err="1" smtClean="0"/>
              <a:t>,</a:t>
            </a:r>
            <a:r>
              <a:rPr lang="en-GB" sz="2400" b="1" dirty="0" err="1" smtClean="0">
                <a:solidFill>
                  <a:srgbClr val="FF0000"/>
                </a:solidFill>
              </a:rPr>
              <a:t>e</a:t>
            </a:r>
            <a:r>
              <a:rPr lang="en-GB" sz="2400" dirty="0" err="1" smtClean="0"/>
              <a:t>,</a:t>
            </a:r>
            <a:r>
              <a:rPr lang="en-GB" sz="2400" b="1" dirty="0" err="1" smtClean="0">
                <a:solidFill>
                  <a:srgbClr val="FF0000"/>
                </a:solidFill>
              </a:rPr>
              <a:t>d</a:t>
            </a:r>
            <a:r>
              <a:rPr lang="en-GB" sz="2400" dirty="0" err="1" smtClean="0"/>
              <a:t>,</a:t>
            </a:r>
            <a:r>
              <a:rPr lang="en-GB" sz="2400" b="1" dirty="0" err="1" smtClean="0">
                <a:solidFill>
                  <a:srgbClr val="FF0000"/>
                </a:solidFill>
              </a:rPr>
              <a:t>c</a:t>
            </a:r>
            <a:r>
              <a:rPr lang="en-GB" sz="2400" dirty="0" err="1" smtClean="0"/>
              <a:t>,e,</a:t>
            </a:r>
            <a:r>
              <a:rPr lang="en-GB" sz="2400" b="1" dirty="0" err="1" smtClean="0">
                <a:solidFill>
                  <a:srgbClr val="FF0000"/>
                </a:solidFill>
              </a:rPr>
              <a:t>b</a:t>
            </a:r>
            <a:r>
              <a:rPr lang="en-GB" sz="2400" dirty="0" err="1" smtClean="0"/>
              <a:t>,</a:t>
            </a:r>
            <a:r>
              <a:rPr lang="en-GB" sz="2400" b="1" dirty="0" err="1" smtClean="0">
                <a:solidFill>
                  <a:srgbClr val="FF0000"/>
                </a:solidFill>
              </a:rPr>
              <a:t>a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/>
          <p:cNvCxnSpPr>
            <a:stCxn id="2" idx="2"/>
            <a:endCxn id="9" idx="6"/>
          </p:cNvCxnSpPr>
          <p:nvPr/>
        </p:nvCxnSpPr>
        <p:spPr>
          <a:xfrm flipH="1">
            <a:off x="2492260" y="2276872"/>
            <a:ext cx="1610337" cy="1080120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9" idx="4"/>
            <a:endCxn id="11" idx="0"/>
          </p:cNvCxnSpPr>
          <p:nvPr/>
        </p:nvCxnSpPr>
        <p:spPr>
          <a:xfrm>
            <a:off x="2420252" y="3429000"/>
            <a:ext cx="711588" cy="1872208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1" idx="6"/>
            <a:endCxn id="12" idx="2"/>
          </p:cNvCxnSpPr>
          <p:nvPr/>
        </p:nvCxnSpPr>
        <p:spPr>
          <a:xfrm>
            <a:off x="3203848" y="5373216"/>
            <a:ext cx="1800200" cy="0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10" idx="3"/>
          </p:cNvCxnSpPr>
          <p:nvPr/>
        </p:nvCxnSpPr>
        <p:spPr>
          <a:xfrm flipV="1">
            <a:off x="5084656" y="3425740"/>
            <a:ext cx="804579" cy="1872713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2" idx="6"/>
          </p:cNvCxnSpPr>
          <p:nvPr/>
        </p:nvCxnSpPr>
        <p:spPr>
          <a:xfrm flipH="1" flipV="1">
            <a:off x="4246613" y="2276872"/>
            <a:ext cx="1639019" cy="1047035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79512" y="908720"/>
            <a:ext cx="4550861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Christofides Algorithm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24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Greedy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512" y="1052736"/>
            <a:ext cx="4980018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Approximation Algorithms for the Metric TSP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016" y="1628800"/>
            <a:ext cx="8748464" cy="1500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501008"/>
            <a:ext cx="8352928" cy="1220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116632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Randomized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520" y="940658"/>
            <a:ext cx="4219168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Randomized approximation algorithm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96" y="1700808"/>
            <a:ext cx="7982256" cy="125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116632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Randomized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196752"/>
            <a:ext cx="6767240" cy="2404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3645024"/>
            <a:ext cx="7774608" cy="877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653136"/>
            <a:ext cx="6696744" cy="1707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251520" y="692696"/>
            <a:ext cx="4766498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Maximum </a:t>
            </a:r>
            <a:r>
              <a:rPr lang="en-GB" sz="2000" b="1" dirty="0" err="1" smtClean="0">
                <a:solidFill>
                  <a:schemeClr val="bg1"/>
                </a:solidFill>
              </a:rPr>
              <a:t>Satisfiability</a:t>
            </a:r>
            <a:r>
              <a:rPr lang="en-GB" sz="2000" b="1" dirty="0" smtClean="0">
                <a:solidFill>
                  <a:schemeClr val="bg1"/>
                </a:solidFill>
              </a:rPr>
              <a:t> Problem (MAX SAT)</a:t>
            </a:r>
            <a:endParaRPr lang="en-GB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Randomized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28" y="1012666"/>
            <a:ext cx="6974923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Randomized approximation algorithm for the MAX SAT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33480"/>
            <a:ext cx="8389690" cy="1019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3140968"/>
            <a:ext cx="8784976" cy="583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Randomized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28" y="4365104"/>
            <a:ext cx="2357633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MAX E3SAT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5589240"/>
            <a:ext cx="8748464" cy="611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23528" y="908720"/>
            <a:ext cx="4891339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Some terminology for the MAX SAT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412776"/>
            <a:ext cx="6737524" cy="2806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4869160"/>
            <a:ext cx="8781070" cy="423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Randomized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868650"/>
            <a:ext cx="3874074" cy="4001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Maximum Cut Problem (MAX CUT)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8473716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365104"/>
            <a:ext cx="8526363" cy="437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79512" y="274638"/>
            <a:ext cx="8075240" cy="4900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Approximation Algorithms - Randomized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28" y="1012666"/>
            <a:ext cx="7023782" cy="40011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Randomized approximation algorithm for the MAX CUT problem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700808"/>
            <a:ext cx="8707270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429000"/>
            <a:ext cx="8805412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6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3242</TotalTime>
  <Words>486</Words>
  <Application>Microsoft Office PowerPoint</Application>
  <PresentationFormat>On-screen Show (4:3)</PresentationFormat>
  <Paragraphs>195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Symbol</vt:lpstr>
      <vt:lpstr>Office Theme</vt:lpstr>
      <vt:lpstr>Further Approximation algorithms</vt:lpstr>
      <vt:lpstr>Approximation Algorithms</vt:lpstr>
      <vt:lpstr>Approximation Algorithms - Greedy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School of Economics and Political Science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Papadakk</cp:lastModifiedBy>
  <cp:revision>189</cp:revision>
  <dcterms:created xsi:type="dcterms:W3CDTF">2013-03-03T17:05:03Z</dcterms:created>
  <dcterms:modified xsi:type="dcterms:W3CDTF">2018-09-29T17:10:59Z</dcterms:modified>
</cp:coreProperties>
</file>